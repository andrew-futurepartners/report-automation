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5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0672" r:id="rId2"/>
    <p:sldId id="30673" r:id="rId3"/>
    <p:sldId id="30677" r:id="rId4"/>
    <p:sldId id="30681" r:id="rId5"/>
    <p:sldId id="30684" r:id="rId6"/>
    <p:sldId id="30692" r:id="rId7"/>
    <p:sldId id="30696" r:id="rId8"/>
    <p:sldId id="30700" r:id="rId9"/>
    <p:sldId id="30704" r:id="rId10"/>
    <p:sldId id="30708" r:id="rId11"/>
    <p:sldId id="30712" r:id="rId12"/>
    <p:sldId id="30716" r:id="rId13"/>
    <p:sldId id="30725" r:id="rId14"/>
    <p:sldId id="30762" r:id="rId15"/>
    <p:sldId id="307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B7FF"/>
    <a:srgbClr val="D6DAFF"/>
    <a:srgbClr val="92F7FF"/>
    <a:srgbClr val="F99775"/>
    <a:srgbClr val="FFDABF"/>
    <a:srgbClr val="4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6262493570213269"/>
          <c:y val="0.13670346851413689"/>
          <c:w val="0.49291130316714443"/>
          <c:h val="0.778266541383807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 w="38100">
              <a:solidFill>
                <a:srgbClr val="FCFFEE"/>
              </a:solidFill>
            </a:ln>
          </c:spPr>
          <c:dPt>
            <c:idx val="0"/>
            <c:bubble3D val="0"/>
            <c:spPr>
              <a:solidFill>
                <a:srgbClr val="006AFF"/>
              </a:solidFill>
              <a:ln w="38100">
                <a:solidFill>
                  <a:srgbClr val="FCFFE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15-447A-9A03-DC7D8E507B2F}"/>
              </c:ext>
            </c:extLst>
          </c:dPt>
          <c:dPt>
            <c:idx val="1"/>
            <c:bubble3D val="0"/>
            <c:spPr>
              <a:solidFill>
                <a:srgbClr val="49B1FF"/>
              </a:solidFill>
              <a:ln w="38100">
                <a:solidFill>
                  <a:srgbClr val="FCFFE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15-447A-9A03-DC7D8E507B2F}"/>
              </c:ext>
            </c:extLst>
          </c:dPt>
          <c:dPt>
            <c:idx val="2"/>
            <c:bubble3D val="0"/>
            <c:spPr>
              <a:solidFill>
                <a:srgbClr val="92F7FF"/>
              </a:solidFill>
              <a:ln w="38100">
                <a:solidFill>
                  <a:srgbClr val="FCFFE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115-447A-9A03-DC7D8E507B2F}"/>
              </c:ext>
            </c:extLst>
          </c:dPt>
          <c:dLbls>
            <c:dLbl>
              <c:idx val="0"/>
              <c:layout>
                <c:manualLayout>
                  <c:x val="0.13446925112767197"/>
                  <c:y val="-9.683162353084702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15-447A-9A03-DC7D8E507B2F}"/>
                </c:ext>
              </c:extLst>
            </c:dLbl>
            <c:dLbl>
              <c:idx val="1"/>
              <c:layout>
                <c:manualLayout>
                  <c:x val="-0.14584547648766377"/>
                  <c:y val="-1.993592249164501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15-447A-9A03-DC7D8E507B2F}"/>
                </c:ext>
              </c:extLst>
            </c:dLbl>
            <c:dLbl>
              <c:idx val="2"/>
              <c:layout>
                <c:manualLayout>
                  <c:x val="-6.8700553591148295E-2"/>
                  <c:y val="-0.1361865697363726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115-447A-9A03-DC7D8E507B2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000000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I don't know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0.72599999999999998</c:v>
                </c:pt>
                <c:pt idx="1">
                  <c:v>0.20799999999999999</c:v>
                </c:pt>
                <c:pt idx="2">
                  <c:v>6.6000000000000003E-2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115-447A-9A03-DC7D8E507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9FF"/>
            </a:solidFill>
            <a:ln>
              <a:noFill/>
            </a:ln>
            <a:effectLst/>
          </c:spPr>
          <c:invertIfNegative val="0"/>
          <c:dLbls>
            <c:numFmt formatCode="#,##0.0;[Red]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Hybrid</c:v>
                </c:pt>
                <c:pt idx="1">
                  <c:v>Virtual</c:v>
                </c:pt>
                <c:pt idx="2">
                  <c:v>In Person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3.2</c:v>
                </c:pt>
                <c:pt idx="2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FF-D546-997F-12D50CFAEF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axId val="547465151"/>
        <c:axId val="524526527"/>
      </c:barChart>
      <c:catAx>
        <c:axId val="547465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2"/>
        <c:min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5782007023840817"/>
          <c:y val="3.4469247608125364E-2"/>
          <c:w val="0.55540942668831483"/>
          <c:h val="0.850857709366752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9FF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9.783581024844749E-3"/>
                  <c:y val="3.13356796437497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5F-42A2-99BE-AF4B72B6CD9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unimportant</c:v>
                </c:pt>
                <c:pt idx="1">
                  <c:v>Unimportant</c:v>
                </c:pt>
                <c:pt idx="2">
                  <c:v>Neutral (Neither important nor unimportant)</c:v>
                </c:pt>
                <c:pt idx="3">
                  <c:v>Important</c:v>
                </c:pt>
                <c:pt idx="4">
                  <c:v>Very important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</c:v>
                </c:pt>
                <c:pt idx="1">
                  <c:v>0.15</c:v>
                </c:pt>
                <c:pt idx="2">
                  <c:v>0.4</c:v>
                </c:pt>
                <c:pt idx="3">
                  <c:v>0.2</c:v>
                </c:pt>
                <c:pt idx="4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FF-D546-997F-12D50CFAEF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axId val="547465151"/>
        <c:axId val="524526527"/>
      </c:barChart>
      <c:catAx>
        <c:axId val="547465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0.4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9297411054586848"/>
          <c:y val="8.4938163909020245E-2"/>
          <c:w val="0.45873972236658433"/>
          <c:h val="0.85272024923006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0069F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Sheet1!$A$3:$A$15</c:f>
              <c:strCache>
                <c:ptCount val="13"/>
                <c:pt idx="0">
                  <c:v>Not enough activities in Illinois that interest me</c:v>
                </c:pt>
                <c:pt idx="1">
                  <c:v>Illinois is not welcoming to travelers like me</c:v>
                </c:pt>
                <c:pt idx="2">
                  <c:v>Been recently and wish to try somewhere new</c:v>
                </c:pt>
                <c:pt idx="3">
                  <c:v>Concerns about my personal safety in Illinois</c:v>
                </c:pt>
                <c:pt idx="4">
                  <c:v>Cost of gas is too high</c:v>
                </c:pt>
                <c:pt idx="5">
                  <c:v>Traveling to Illinois takes too long</c:v>
                </c:pt>
                <c:pt idx="6">
                  <c:v>Concerned about COVID-19 exposure while traveling</c:v>
                </c:pt>
                <c:pt idx="7">
                  <c:v>Been before and wish to try somewhere new</c:v>
                </c:pt>
                <c:pt idx="8">
                  <c:v>Better value at another destination</c:v>
                </c:pt>
                <c:pt idx="9">
                  <c:v>Illinois is not currently on my radar</c:v>
                </c:pt>
                <c:pt idx="10">
                  <c:v>I don't have enough vacation time</c:v>
                </c:pt>
                <c:pt idx="11">
                  <c:v>Hotel/ accommodations prices are too high</c:v>
                </c:pt>
                <c:pt idx="12">
                  <c:v>Cost of airfare is too expensive</c:v>
                </c:pt>
              </c:strCache>
            </c:strRef>
          </c:cat>
          <c:val>
            <c:numRef>
              <c:f>Sheet1!$B$3:$B$15</c:f>
              <c:numCache>
                <c:formatCode>0%</c:formatCode>
                <c:ptCount val="13"/>
                <c:pt idx="0">
                  <c:v>5.555555555556E-2</c:v>
                </c:pt>
                <c:pt idx="1">
                  <c:v>5.555555555556E-2</c:v>
                </c:pt>
                <c:pt idx="2">
                  <c:v>8.1481481481480003E-2</c:v>
                </c:pt>
                <c:pt idx="3">
                  <c:v>9.2592592592590006E-2</c:v>
                </c:pt>
                <c:pt idx="4">
                  <c:v>0.1074074074074</c:v>
                </c:pt>
                <c:pt idx="5">
                  <c:v>0.12592592592589999</c:v>
                </c:pt>
                <c:pt idx="6">
                  <c:v>0.12592592592589999</c:v>
                </c:pt>
                <c:pt idx="7">
                  <c:v>0.12962962962960001</c:v>
                </c:pt>
                <c:pt idx="8">
                  <c:v>0.1518518518519</c:v>
                </c:pt>
                <c:pt idx="9">
                  <c:v>0.1925925925926</c:v>
                </c:pt>
                <c:pt idx="10">
                  <c:v>0.21111111111110001</c:v>
                </c:pt>
                <c:pt idx="11">
                  <c:v>0.2148148148148</c:v>
                </c:pt>
                <c:pt idx="12">
                  <c:v>0.32222222222219998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B0-4A01-94E0-14F42EBC6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547465151"/>
        <c:axId val="524526527"/>
      </c:barChart>
      <c:catAx>
        <c:axId val="547465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0.4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# Anticipated for 2023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Generation Z</c:v>
                </c:pt>
                <c:pt idx="1">
                  <c:v>Millennials</c:v>
                </c:pt>
                <c:pt idx="2">
                  <c:v>Generation X</c:v>
                </c:pt>
                <c:pt idx="3">
                  <c:v>Boomers and up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0.7</c:v>
                </c:pt>
                <c:pt idx="1">
                  <c:v>0.6</c:v>
                </c:pt>
                <c:pt idx="2">
                  <c:v>0.5</c:v>
                </c:pt>
                <c:pt idx="3" formatCode="0.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7-45EA-AED9-F17429D9C3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0"/>
        <c:axId val="547465151"/>
        <c:axId val="524526527"/>
      </c:barChart>
      <c:catAx>
        <c:axId val="54746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# Anticipated for 2023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 Person</c:v>
                </c:pt>
                <c:pt idx="1">
                  <c:v>Hybrid</c:v>
                </c:pt>
                <c:pt idx="2">
                  <c:v>Virtual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5.6</c:v>
                </c:pt>
                <c:pt idx="1">
                  <c:v>2.4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7-45EA-AED9-F17429D9C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# Anticipated for 2022</c:v>
                </c:pt>
              </c:strCache>
            </c:strRef>
          </c:tx>
          <c:spPr>
            <a:solidFill>
              <a:srgbClr val="92F7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In Person</c:v>
                </c:pt>
                <c:pt idx="1">
                  <c:v>Hybrid</c:v>
                </c:pt>
                <c:pt idx="2">
                  <c:v>Virtual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2.5</c:v>
                </c:pt>
                <c:pt idx="1">
                  <c:v>2.4</c:v>
                </c:pt>
                <c:pt idx="2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1-4B69-B9F9-146255FA5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0"/>
        <c:axId val="547465151"/>
        <c:axId val="524526527"/>
      </c:barChart>
      <c:catAx>
        <c:axId val="54746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GT America Regular" pitchFamily="50" charset="0"/>
              <a:ea typeface="GT America Regular" pitchFamily="50" charset="0"/>
              <a:cs typeface="GT America Regular" pitchFamily="50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# Anticipated for 2023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 Person</c:v>
                </c:pt>
                <c:pt idx="1">
                  <c:v>Hybrid</c:v>
                </c:pt>
                <c:pt idx="2">
                  <c:v>Virtual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5.6</c:v>
                </c:pt>
                <c:pt idx="1">
                  <c:v>2.4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7-45EA-AED9-F17429D9C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# Anticipated for 2022</c:v>
                </c:pt>
              </c:strCache>
            </c:strRef>
          </c:tx>
          <c:spPr>
            <a:solidFill>
              <a:srgbClr val="49B1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In Person</c:v>
                </c:pt>
                <c:pt idx="1">
                  <c:v>Hybrid</c:v>
                </c:pt>
                <c:pt idx="2">
                  <c:v>Virtual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2.5</c:v>
                </c:pt>
                <c:pt idx="1">
                  <c:v>2.4</c:v>
                </c:pt>
                <c:pt idx="2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1-4B69-B9F9-146255FA58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 # Anticipated for 2021</c:v>
                </c:pt>
              </c:strCache>
            </c:strRef>
          </c:tx>
          <c:spPr>
            <a:solidFill>
              <a:srgbClr val="92F7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In Person</c:v>
                </c:pt>
                <c:pt idx="1">
                  <c:v>Hybrid</c:v>
                </c:pt>
                <c:pt idx="2">
                  <c:v>Virtual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</c:v>
                </c:pt>
                <c:pt idx="1">
                  <c:v>1.7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99-4A40-AF31-B66FF6F69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0"/>
        <c:axId val="547465151"/>
        <c:axId val="524526527"/>
      </c:barChart>
      <c:catAx>
        <c:axId val="54746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2468298390412045E-2"/>
          <c:y val="1.88014077862502E-2"/>
          <c:w val="0.91305537109066182"/>
          <c:h val="8.8955826067732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GT America Regular" pitchFamily="50" charset="0"/>
              <a:ea typeface="GT America Regular" pitchFamily="50" charset="0"/>
              <a:cs typeface="GT America Regular" pitchFamily="50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510049291076432E-2"/>
          <c:y val="6.2914425256973924E-2"/>
          <c:w val="0.8933820126793719"/>
          <c:h val="0.773984872022123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</c:strCache>
            </c:strRef>
          </c:cat>
          <c:val>
            <c:numRef>
              <c:f>Sheet1!$B$2:$B$10</c:f>
              <c:numCache>
                <c:formatCode>0.0%</c:formatCode>
                <c:ptCount val="9"/>
                <c:pt idx="0">
                  <c:v>0.24</c:v>
                </c:pt>
                <c:pt idx="1">
                  <c:v>0.32</c:v>
                </c:pt>
                <c:pt idx="2">
                  <c:v>0.55999999999999994</c:v>
                </c:pt>
                <c:pt idx="3">
                  <c:v>0.55999999999999994</c:v>
                </c:pt>
                <c:pt idx="4">
                  <c:v>0.24</c:v>
                </c:pt>
                <c:pt idx="5">
                  <c:v>0.32</c:v>
                </c:pt>
                <c:pt idx="6">
                  <c:v>0.55999999999999994</c:v>
                </c:pt>
                <c:pt idx="7">
                  <c:v>0.24</c:v>
                </c:pt>
                <c:pt idx="8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17-446A-BADE-6CD3832EB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0"/>
        <c:axId val="335409711"/>
        <c:axId val="335410671"/>
      </c:barChart>
      <c:catAx>
        <c:axId val="33540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10671"/>
        <c:crosses val="autoZero"/>
        <c:auto val="1"/>
        <c:lblAlgn val="ctr"/>
        <c:lblOffset val="100"/>
        <c:noMultiLvlLbl val="0"/>
      </c:catAx>
      <c:valAx>
        <c:axId val="33541067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0971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t" anchorCtr="0"/>
    <a:lstStyle/>
    <a:p>
      <a:pPr>
        <a:defRPr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510049291076432E-2"/>
          <c:y val="6.2914425256973924E-2"/>
          <c:w val="0.8933820126793719"/>
          <c:h val="0.739515624413998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69FF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3.9801449417461721E-2"/>
                  <c:y val="-3.20855547421881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E3-4F23-8702-E3D6B917F241}"/>
                </c:ext>
              </c:extLst>
            </c:dLbl>
            <c:dLbl>
              <c:idx val="4"/>
              <c:layout>
                <c:manualLayout>
                  <c:x val="-2.274368538140668E-2"/>
                  <c:y val="4.27807396562508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E3-4F23-8702-E3D6B917F2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</c:strCache>
            </c:strRef>
          </c:cat>
          <c:val>
            <c:numRef>
              <c:f>Sheet1!$B$2:$B$10</c:f>
              <c:numCache>
                <c:formatCode>0.0%</c:formatCode>
                <c:ptCount val="9"/>
                <c:pt idx="0">
                  <c:v>0.24</c:v>
                </c:pt>
                <c:pt idx="1">
                  <c:v>0.32</c:v>
                </c:pt>
                <c:pt idx="2">
                  <c:v>0.55999999999999994</c:v>
                </c:pt>
                <c:pt idx="3">
                  <c:v>0.55999999999999994</c:v>
                </c:pt>
                <c:pt idx="4">
                  <c:v>0.24</c:v>
                </c:pt>
                <c:pt idx="5">
                  <c:v>0.32</c:v>
                </c:pt>
                <c:pt idx="6">
                  <c:v>0.55999999999999994</c:v>
                </c:pt>
                <c:pt idx="7">
                  <c:v>0.24</c:v>
                </c:pt>
                <c:pt idx="8">
                  <c:v>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E3-4F23-8702-E3D6B917F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5409711"/>
        <c:axId val="335410671"/>
      </c:lineChart>
      <c:catAx>
        <c:axId val="33540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10671"/>
        <c:crosses val="autoZero"/>
        <c:auto val="1"/>
        <c:lblAlgn val="ctr"/>
        <c:lblOffset val="100"/>
        <c:noMultiLvlLbl val="0"/>
      </c:catAx>
      <c:valAx>
        <c:axId val="33541067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0971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510049291076432E-2"/>
          <c:y val="6.2914425256973924E-2"/>
          <c:w val="0.8933820126793719"/>
          <c:h val="0.739515624413998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69FF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</c:strCache>
            </c:strRef>
          </c:cat>
          <c:val>
            <c:numRef>
              <c:f>Sheet1!$B$2:$B$10</c:f>
              <c:numCache>
                <c:formatCode>0.0%</c:formatCode>
                <c:ptCount val="9"/>
                <c:pt idx="0">
                  <c:v>0.24</c:v>
                </c:pt>
                <c:pt idx="1">
                  <c:v>0.32</c:v>
                </c:pt>
                <c:pt idx="2">
                  <c:v>0.55999999999999994</c:v>
                </c:pt>
                <c:pt idx="3">
                  <c:v>0.55999999999999994</c:v>
                </c:pt>
                <c:pt idx="4">
                  <c:v>0.24</c:v>
                </c:pt>
                <c:pt idx="5">
                  <c:v>0.32</c:v>
                </c:pt>
                <c:pt idx="6">
                  <c:v>0.55999999999999994</c:v>
                </c:pt>
                <c:pt idx="7">
                  <c:v>0.24</c:v>
                </c:pt>
                <c:pt idx="8">
                  <c:v>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E3-4F23-8702-E3D6B917F2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92F7FF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0.22</c:v>
                </c:pt>
                <c:pt idx="1">
                  <c:v>0.3</c:v>
                </c:pt>
                <c:pt idx="2">
                  <c:v>0.54</c:v>
                </c:pt>
                <c:pt idx="3">
                  <c:v>0.54</c:v>
                </c:pt>
                <c:pt idx="4">
                  <c:v>0.2</c:v>
                </c:pt>
                <c:pt idx="5">
                  <c:v>0.3</c:v>
                </c:pt>
                <c:pt idx="6">
                  <c:v>0.54</c:v>
                </c:pt>
                <c:pt idx="7">
                  <c:v>0.2</c:v>
                </c:pt>
                <c:pt idx="8">
                  <c:v>0.28999999999999998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59-4653-BFF8-C1EE070EB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5409711"/>
        <c:axId val="335410671"/>
      </c:lineChart>
      <c:catAx>
        <c:axId val="33540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10671"/>
        <c:crosses val="autoZero"/>
        <c:auto val="1"/>
        <c:lblAlgn val="ctr"/>
        <c:lblOffset val="100"/>
        <c:noMultiLvlLbl val="0"/>
      </c:catAx>
      <c:valAx>
        <c:axId val="33541067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33540971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Stressed</c:v>
                </c:pt>
                <c:pt idx="1">
                  <c:v>Overwhelmed</c:v>
                </c:pt>
                <c:pt idx="2">
                  <c:v>Happy</c:v>
                </c:pt>
                <c:pt idx="3">
                  <c:v>Loved</c:v>
                </c:pt>
                <c:pt idx="4">
                  <c:v>Curious</c:v>
                </c:pt>
                <c:pt idx="5">
                  <c:v>Lost</c:v>
                </c:pt>
                <c:pt idx="6">
                  <c:v>Intellectual</c:v>
                </c:pt>
                <c:pt idx="7">
                  <c:v>Successful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0.53</c:v>
                </c:pt>
                <c:pt idx="1">
                  <c:v>0.496</c:v>
                </c:pt>
                <c:pt idx="2">
                  <c:v>0.44800000000000001</c:v>
                </c:pt>
                <c:pt idx="3">
                  <c:v>0.4</c:v>
                </c:pt>
                <c:pt idx="4">
                  <c:v>0.31900000000000001</c:v>
                </c:pt>
                <c:pt idx="5">
                  <c:v>0.29699999999999999</c:v>
                </c:pt>
                <c:pt idx="6">
                  <c:v>0.254</c:v>
                </c:pt>
                <c:pt idx="7">
                  <c:v>0.214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7-45EA-AED9-F17429D9C3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92F7F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Stressed</c:v>
                </c:pt>
                <c:pt idx="1">
                  <c:v>Overwhelmed</c:v>
                </c:pt>
                <c:pt idx="2">
                  <c:v>Happy</c:v>
                </c:pt>
                <c:pt idx="3">
                  <c:v>Loved</c:v>
                </c:pt>
                <c:pt idx="4">
                  <c:v>Curious</c:v>
                </c:pt>
                <c:pt idx="5">
                  <c:v>Lost</c:v>
                </c:pt>
                <c:pt idx="6">
                  <c:v>Intellectual</c:v>
                </c:pt>
                <c:pt idx="7">
                  <c:v>Successful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0.6</c:v>
                </c:pt>
                <c:pt idx="1">
                  <c:v>0.54700000000000004</c:v>
                </c:pt>
                <c:pt idx="2">
                  <c:v>0.35</c:v>
                </c:pt>
                <c:pt idx="3">
                  <c:v>0.36</c:v>
                </c:pt>
                <c:pt idx="4">
                  <c:v>0.32400000000000001</c:v>
                </c:pt>
                <c:pt idx="5">
                  <c:v>0.29799999999999999</c:v>
                </c:pt>
                <c:pt idx="6">
                  <c:v>0.29499999999999998</c:v>
                </c:pt>
                <c:pt idx="7">
                  <c:v>0.20100000000000001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1-4B69-B9F9-146255FA5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0"/>
        <c:axId val="547465151"/>
        <c:axId val="524526527"/>
      </c:barChart>
      <c:catAx>
        <c:axId val="54746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0.7000000000000000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GT America Regular" pitchFamily="50" charset="0"/>
              <a:ea typeface="GT America Regular" pitchFamily="50" charset="0"/>
              <a:cs typeface="GT America Regular" pitchFamily="50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9FF"/>
            </a:solidFill>
            <a:ln>
              <a:noFill/>
            </a:ln>
            <a:effectLst/>
          </c:spPr>
          <c:invertIfNegative val="0"/>
          <c:dLbls>
            <c:numFmt formatCode="#,##0.0;[Red]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Hybrid</c:v>
                </c:pt>
                <c:pt idx="1">
                  <c:v>Virtual</c:v>
                </c:pt>
                <c:pt idx="2">
                  <c:v>In Person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3.2</c:v>
                </c:pt>
                <c:pt idx="2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7-4EF6-BDC5-3170887C84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axId val="547465151"/>
        <c:axId val="524526527"/>
      </c:barChart>
      <c:catAx>
        <c:axId val="547465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2"/>
        <c:min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69FF"/>
            </a:solidFill>
            <a:ln>
              <a:noFill/>
            </a:ln>
            <a:effectLst/>
          </c:spPr>
          <c:invertIfNegative val="0"/>
          <c:dLbls>
            <c:numFmt formatCode="#,##0.0;[Red]#,##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GT America Regular" pitchFamily="50" charset="0"/>
                    <a:ea typeface="GT America Regular" pitchFamily="50" charset="0"/>
                    <a:cs typeface="GT America Regular" pitchFamily="50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Hybrid</c:v>
                </c:pt>
                <c:pt idx="1">
                  <c:v>Virtual</c:v>
                </c:pt>
                <c:pt idx="2">
                  <c:v>In Person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</c:v>
                </c:pt>
                <c:pt idx="1">
                  <c:v>3.2</c:v>
                </c:pt>
                <c:pt idx="2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7-4EF6-BDC5-3170887C84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axId val="547465151"/>
        <c:axId val="524526527"/>
      </c:barChart>
      <c:catAx>
        <c:axId val="547465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24526527"/>
        <c:crosses val="autoZero"/>
        <c:auto val="1"/>
        <c:lblAlgn val="ctr"/>
        <c:lblOffset val="100"/>
        <c:noMultiLvlLbl val="0"/>
      </c:catAx>
      <c:valAx>
        <c:axId val="524526527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353"/>
                </a:schemeClr>
              </a:solidFill>
              <a:round/>
            </a:ln>
            <a:effectLst/>
          </c:spPr>
        </c:majorGridlines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pPr>
            <a:endParaRPr lang="en-US"/>
          </a:p>
        </c:txPr>
        <c:crossAx val="547465151"/>
        <c:crosses val="autoZero"/>
        <c:crossBetween val="between"/>
        <c:majorUnit val="2"/>
        <c:min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200">
          <a:latin typeface="GT America Regular" pitchFamily="50" charset="0"/>
          <a:ea typeface="GT America Regular" pitchFamily="50" charset="0"/>
          <a:cs typeface="GT America Regular" pitchFamily="50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DA534-0C76-4EDC-86AD-496EB981006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EA08D-E5BF-4AD3-902F-778BB2CAE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5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FAF6-AB0A-A011-048F-3B2F601D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099" y="3882815"/>
            <a:ext cx="11818181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56EDC-B13D-8889-8A10-A3016C46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0B4386-72FB-3689-E475-E042F4D001BD}"/>
              </a:ext>
            </a:extLst>
          </p:cNvPr>
          <p:cNvSpPr txBox="1">
            <a:spLocks/>
          </p:cNvSpPr>
          <p:nvPr userDrawn="1"/>
        </p:nvSpPr>
        <p:spPr>
          <a:xfrm>
            <a:off x="9296400" y="128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5ACC75-6FEB-4DDA-8FBD-B79DC73BB834}" type="datetimeFigureOut">
              <a:rPr lang="en-US" sz="1000" smtClean="0"/>
              <a:pPr algn="r"/>
              <a:t>3/17/2026</a:t>
            </a:fld>
            <a:endParaRPr lang="en-US" sz="10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B8B21-A9BA-191F-1C48-9C00E3B41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222460"/>
            <a:ext cx="1762125" cy="365125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5CD01D-8582-8427-E0B8-367D5D05F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0700" y="219285"/>
            <a:ext cx="2624138" cy="365125"/>
          </a:xfrm>
        </p:spPr>
        <p:txBody>
          <a:bodyPr>
            <a:normAutofit/>
          </a:bodyPr>
          <a:lstStyle>
            <a:lvl1pPr marL="0" indent="0" algn="r">
              <a:buNone/>
              <a:defRPr sz="1000"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4606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968EF6-A077-8285-71FA-DEE12CA921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1FAF6-AB0A-A011-048F-3B2F601D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099" y="3882815"/>
            <a:ext cx="11818181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56EDC-B13D-8889-8A10-A3016C46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B8B21-A9BA-191F-1C48-9C00E3B41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222460"/>
            <a:ext cx="1762125" cy="365125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0B4386-72FB-3689-E475-E042F4D001BD}"/>
              </a:ext>
            </a:extLst>
          </p:cNvPr>
          <p:cNvSpPr txBox="1">
            <a:spLocks/>
          </p:cNvSpPr>
          <p:nvPr userDrawn="1"/>
        </p:nvSpPr>
        <p:spPr>
          <a:xfrm>
            <a:off x="9296400" y="128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5ACC75-6FEB-4DDA-8FBD-B79DC73BB834}" type="datetimeFigureOut">
              <a:rPr lang="en-US" sz="1000" smtClean="0"/>
              <a:pPr algn="r"/>
              <a:t>3/17/2026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842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1968EF6-A077-8285-71FA-DEE12CA921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1FAF6-AB0A-A011-048F-3B2F601D4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099" y="3882815"/>
            <a:ext cx="11818181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56EDC-B13D-8889-8A10-A3016C46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0B4386-72FB-3689-E475-E042F4D001BD}"/>
              </a:ext>
            </a:extLst>
          </p:cNvPr>
          <p:cNvSpPr txBox="1">
            <a:spLocks/>
          </p:cNvSpPr>
          <p:nvPr userDrawn="1"/>
        </p:nvSpPr>
        <p:spPr>
          <a:xfrm>
            <a:off x="9296400" y="128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5ACC75-6FEB-4DDA-8FBD-B79DC73BB834}" type="datetimeFigureOut">
              <a:rPr lang="en-US" sz="1000" smtClean="0">
                <a:solidFill>
                  <a:schemeClr val="bg1"/>
                </a:solidFill>
              </a:rPr>
              <a:pPr algn="r"/>
              <a:t>3/17/2026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2B8B21-A9BA-191F-1C48-9C00E3B419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099" y="222460"/>
            <a:ext cx="1762125" cy="365125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Client Name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CF8B11E-D72B-D979-85DF-2D39FF2DE2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10700" y="219285"/>
            <a:ext cx="2624138" cy="365125"/>
          </a:xfrm>
        </p:spPr>
        <p:txBody>
          <a:bodyPr>
            <a:norm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626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10A3-CEFA-C954-3B36-1EBCED8F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203365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E8688-A126-FCB1-AF3E-475B1A55E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104" y="1351172"/>
            <a:ext cx="10680640" cy="435133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F0721-9FDE-99D3-1404-5D62758A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3624" y="6385076"/>
            <a:ext cx="4114800" cy="365125"/>
          </a:xfrm>
        </p:spPr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47DF-9E93-0230-2AD7-FF6D2EF5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439BE-3D72-47C6-5B01-4F162F6DE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6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D7EC-E274-BB2C-2F92-C088FCF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77" y="3416"/>
            <a:ext cx="10515600" cy="1799506"/>
          </a:xfrm>
          <a:prstGeom prst="rect">
            <a:avLst/>
          </a:prstGeo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7952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D7EC-E274-BB2C-2F92-C088FCF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6" y="3816290"/>
            <a:ext cx="11680166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78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D7EC-E274-BB2C-2F92-C088FCF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6" y="3816290"/>
            <a:ext cx="11680166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695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D7EC-E274-BB2C-2F92-C088FCF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6" y="3816290"/>
            <a:ext cx="11680166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306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D7EC-E274-BB2C-2F92-C088FCF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66" y="3816290"/>
            <a:ext cx="11680166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510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Partners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09345D-6DFE-2744-7E62-2923F147C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534" y="5432785"/>
            <a:ext cx="12192000" cy="123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5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Partners 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09345D-6DFE-2744-7E62-2923F147C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4" y="5432785"/>
            <a:ext cx="12192000" cy="12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04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Partners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09345D-6DFE-2744-7E62-2923F147C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4" y="5432785"/>
            <a:ext cx="12192000" cy="12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36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1190445"/>
            <a:ext cx="5181600" cy="4926133"/>
          </a:xfrm>
        </p:spPr>
        <p:txBody>
          <a:bodyPr/>
          <a:lstStyle>
            <a:lvl1pPr>
              <a:lnSpc>
                <a:spcPts val="2400"/>
              </a:lnSpc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0826" y="1190445"/>
            <a:ext cx="5181600" cy="4926133"/>
          </a:xfrm>
        </p:spPr>
        <p:txBody>
          <a:bodyPr/>
          <a:lstStyle>
            <a:lvl1pPr>
              <a:lnSpc>
                <a:spcPts val="2400"/>
              </a:lnSpc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 sz="1100"/>
            </a:lvl1pPr>
          </a:lstStyle>
          <a:p>
            <a:r>
              <a:rPr lang="en-US" dirty="0"/>
              <a:t>Complete Project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39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able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298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974785"/>
            <a:ext cx="7496054" cy="5141793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j-lt"/>
              </a:defRPr>
            </a:lvl1pPr>
            <a:lvl2pPr marL="457200" indent="0">
              <a:buNone/>
              <a:defRPr sz="24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400">
                <a:latin typeface="+mj-lt"/>
              </a:defRPr>
            </a:lvl4pPr>
            <a:lvl5pPr marL="1828800" indent="0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34112" y="974785"/>
            <a:ext cx="1528313" cy="5141793"/>
          </a:xfrm>
        </p:spPr>
        <p:txBody>
          <a:bodyPr>
            <a:noAutofit/>
          </a:bodyPr>
          <a:lstStyle>
            <a:lvl1pPr marL="0" indent="0">
              <a:buNone/>
              <a:defRPr sz="2400">
                <a:latin typeface="+mj-lt"/>
              </a:defRPr>
            </a:lvl1pPr>
            <a:lvl2pPr marL="457200" indent="0">
              <a:buNone/>
              <a:defRPr sz="24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400">
                <a:latin typeface="+mj-lt"/>
              </a:defRPr>
            </a:lvl4pPr>
            <a:lvl5pPr marL="1828800" indent="0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Complete Project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01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ableConte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298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974785"/>
            <a:ext cx="7496054" cy="5141793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Self Modern Regular" panose="02000000000000000000" pitchFamily="2" charset="0"/>
              </a:defRPr>
            </a:lvl1pPr>
            <a:lvl2pPr marL="457200" indent="0">
              <a:buNone/>
              <a:defRPr sz="2400">
                <a:latin typeface="Self Modern Regular" panose="02000000000000000000" pitchFamily="2" charset="0"/>
              </a:defRPr>
            </a:lvl2pPr>
            <a:lvl3pPr marL="914400" indent="0">
              <a:buNone/>
              <a:defRPr sz="2400">
                <a:latin typeface="Self Modern Regular" panose="02000000000000000000" pitchFamily="2" charset="0"/>
              </a:defRPr>
            </a:lvl3pPr>
            <a:lvl4pPr marL="1371600" indent="0">
              <a:buNone/>
              <a:defRPr sz="2400">
                <a:latin typeface="Self Modern Regular" panose="02000000000000000000" pitchFamily="2" charset="0"/>
              </a:defRPr>
            </a:lvl4pPr>
            <a:lvl5pPr marL="1828800" indent="0">
              <a:buNone/>
              <a:defRPr sz="2400">
                <a:latin typeface="Self Modern Regular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34112" y="974785"/>
            <a:ext cx="1528313" cy="5141793"/>
          </a:xfrm>
        </p:spPr>
        <p:txBody>
          <a:bodyPr>
            <a:noAutofit/>
          </a:bodyPr>
          <a:lstStyle>
            <a:lvl1pPr marL="0" indent="0">
              <a:buNone/>
              <a:defRPr sz="2400">
                <a:latin typeface="Self Modern Regular" panose="02000000000000000000" pitchFamily="2" charset="0"/>
              </a:defRPr>
            </a:lvl1pPr>
            <a:lvl2pPr marL="457200" indent="0">
              <a:buNone/>
              <a:defRPr sz="2400">
                <a:latin typeface="+mj-lt"/>
              </a:defRPr>
            </a:lvl2pPr>
            <a:lvl3pPr marL="914400" indent="0">
              <a:buNone/>
              <a:defRPr sz="2400">
                <a:latin typeface="+mj-lt"/>
              </a:defRPr>
            </a:lvl3pPr>
            <a:lvl4pPr marL="1371600" indent="0">
              <a:buNone/>
              <a:defRPr sz="2400">
                <a:latin typeface="+mj-lt"/>
              </a:defRPr>
            </a:lvl4pPr>
            <a:lvl5pPr marL="1828800" indent="0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Complete Project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77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2988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3" y="974785"/>
            <a:ext cx="10425621" cy="514179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>
                <a:latin typeface="Self Modern Regular" panose="02000000000000000000" pitchFamily="2" charset="0"/>
              </a:defRPr>
            </a:lvl1pPr>
            <a:lvl2pPr marL="457200" indent="0">
              <a:lnSpc>
                <a:spcPts val="2400"/>
              </a:lnSpc>
              <a:buNone/>
              <a:defRPr sz="2400">
                <a:latin typeface="Self Modern Regular" panose="02000000000000000000" pitchFamily="2" charset="0"/>
              </a:defRPr>
            </a:lvl2pPr>
            <a:lvl3pPr marL="914400" indent="0">
              <a:lnSpc>
                <a:spcPts val="2400"/>
              </a:lnSpc>
              <a:buNone/>
              <a:defRPr sz="2400">
                <a:latin typeface="Self Modern Regular" panose="02000000000000000000" pitchFamily="2" charset="0"/>
              </a:defRPr>
            </a:lvl3pPr>
            <a:lvl4pPr marL="1371600" indent="0">
              <a:buNone/>
              <a:defRPr sz="2400">
                <a:latin typeface="Self Modern Regular" panose="02000000000000000000" pitchFamily="2" charset="0"/>
              </a:defRPr>
            </a:lvl4pPr>
            <a:lvl5pPr marL="1828800" indent="0">
              <a:buNone/>
              <a:defRPr sz="2400">
                <a:latin typeface="Self Modern Regular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Complete Project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08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Char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1607512"/>
            <a:ext cx="4002356" cy="39479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7826" y="1500994"/>
            <a:ext cx="6324600" cy="40544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915D2-9435-668C-A27B-B3CF07C33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80275" y="5649913"/>
            <a:ext cx="4081463" cy="612775"/>
          </a:xfrm>
        </p:spPr>
        <p:txBody>
          <a:bodyPr>
            <a:normAutofit/>
          </a:bodyPr>
          <a:lstStyle>
            <a:lvl1pPr marL="0" indent="0" algn="r">
              <a:buNone/>
              <a:defRPr sz="110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6AC301-F5D4-6099-F282-2804A33635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4125" y="1120775"/>
            <a:ext cx="6297613" cy="365125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AE3C990-4708-10EA-2930-332003BABD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613" y="5745163"/>
            <a:ext cx="3122612" cy="517525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</a:lstStyle>
          <a:p>
            <a:pPr lvl="0"/>
            <a:r>
              <a:rPr lang="en-US" dirty="0"/>
              <a:t>Note: A detailed segmentation analysis for this question is available in Appendix X, Page Y.</a:t>
            </a:r>
          </a:p>
        </p:txBody>
      </p:sp>
    </p:spTree>
    <p:extLst>
      <p:ext uri="{BB962C8B-B14F-4D97-AF65-F5344CB8AC3E}">
        <p14:creationId xmlns:p14="http://schemas.microsoft.com/office/powerpoint/2010/main" val="3633900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104" y="1607512"/>
            <a:ext cx="10515600" cy="5175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Supporting analysis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104" y="2618363"/>
            <a:ext cx="3642837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915D2-9435-668C-A27B-B3CF07C33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96656" y="5649913"/>
            <a:ext cx="8201890" cy="612775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6AC301-F5D4-6099-F282-2804A33635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104" y="2309743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F52C5F-B681-B5D6-55E4-A2770B2D2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312560" y="2578756"/>
            <a:ext cx="3642837" cy="21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56ACA10-18AE-F8C0-18B9-4B92A8EA84F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165812" y="2637643"/>
            <a:ext cx="3642837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039108-CB06-92D2-8A16-4CE4FF654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65813" y="2302422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970728A-83EC-8D6C-E9FA-31E7375373C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8034118" y="2600355"/>
            <a:ext cx="3642837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711A2A9D-AE00-C590-D3D0-3A4235773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19066" y="2311065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C1B647-63EB-700D-F390-C14C7BCCAEDC}"/>
              </a:ext>
            </a:extLst>
          </p:cNvPr>
          <p:cNvCxnSpPr>
            <a:cxnSpLocks/>
          </p:cNvCxnSpPr>
          <p:nvPr userDrawn="1"/>
        </p:nvCxnSpPr>
        <p:spPr>
          <a:xfrm flipV="1">
            <a:off x="4165813" y="2567957"/>
            <a:ext cx="3642837" cy="21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FF78EC-386E-8813-1871-BFCEFB9883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034118" y="2563527"/>
            <a:ext cx="3642837" cy="21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53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nd 2/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104" y="1607512"/>
            <a:ext cx="10515600" cy="5175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Supporting analysis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104" y="2618363"/>
            <a:ext cx="3642837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915D2-9435-668C-A27B-B3CF07C33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96656" y="5649913"/>
            <a:ext cx="8201890" cy="612775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6AC301-F5D4-6099-F282-2804A33635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104" y="2309743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F52C5F-B681-B5D6-55E4-A2770B2D292C}"/>
              </a:ext>
            </a:extLst>
          </p:cNvPr>
          <p:cNvCxnSpPr>
            <a:cxnSpLocks/>
          </p:cNvCxnSpPr>
          <p:nvPr userDrawn="1"/>
        </p:nvCxnSpPr>
        <p:spPr>
          <a:xfrm flipV="1">
            <a:off x="312560" y="2578756"/>
            <a:ext cx="3642837" cy="21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56ACA10-18AE-F8C0-18B9-4B92A8EA84F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165812" y="2637643"/>
            <a:ext cx="6677892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039108-CB06-92D2-8A16-4CE4FF654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65813" y="2302422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C1B647-63EB-700D-F390-C14C7BCCAEDC}"/>
              </a:ext>
            </a:extLst>
          </p:cNvPr>
          <p:cNvCxnSpPr>
            <a:cxnSpLocks/>
          </p:cNvCxnSpPr>
          <p:nvPr userDrawn="1"/>
        </p:nvCxnSpPr>
        <p:spPr>
          <a:xfrm flipV="1">
            <a:off x="4165813" y="2567957"/>
            <a:ext cx="3642837" cy="21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944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nd 2/3 Char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104" y="1702788"/>
            <a:ext cx="3642837" cy="79318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Supporting analysis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104" y="2618363"/>
            <a:ext cx="3642837" cy="29970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56ACA10-18AE-F8C0-18B9-4B92A8EA84F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165812" y="1695758"/>
            <a:ext cx="7195926" cy="39389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039108-CB06-92D2-8A16-4CE4FF654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0275" y="1372177"/>
            <a:ext cx="3627293" cy="269906"/>
          </a:xfrm>
        </p:spPr>
        <p:txBody>
          <a:bodyPr anchor="ctr"/>
          <a:lstStyle>
            <a:lvl1pPr marL="0" indent="0" algn="l">
              <a:buNone/>
              <a:defRPr>
                <a:latin typeface="+mj-lt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2B19A44-9897-F907-CD9B-6A400F7289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613" y="5745163"/>
            <a:ext cx="3122612" cy="517525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</a:lstStyle>
          <a:p>
            <a:pPr lvl="0"/>
            <a:r>
              <a:rPr lang="en-US" dirty="0"/>
              <a:t>Note: A detailed segmentation analysis for this question is available in Appendix X, Page Y.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E5D5B5E-0E06-1C4B-9517-1A1343468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80275" y="5649913"/>
            <a:ext cx="4081463" cy="612775"/>
          </a:xfrm>
        </p:spPr>
        <p:txBody>
          <a:bodyPr>
            <a:normAutofit/>
          </a:bodyPr>
          <a:lstStyle>
            <a:lvl1pPr marL="0" indent="0" algn="r">
              <a:buNone/>
              <a:defRPr sz="110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7702145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fty Fifty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8104" y="1539467"/>
            <a:ext cx="10515600" cy="43322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Supporting analysis here.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1104" y="2566743"/>
            <a:ext cx="4114800" cy="30487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56ACA10-18AE-F8C0-18B9-4B92A8EA84F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5874326" y="2586023"/>
            <a:ext cx="4114801" cy="30487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039108-CB06-92D2-8A16-4CE4FF654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9843" y="2254923"/>
            <a:ext cx="3003363" cy="269906"/>
          </a:xfrm>
        </p:spPr>
        <p:txBody>
          <a:bodyPr anchor="ctr"/>
          <a:lstStyle>
            <a:lvl1pPr marL="0" indent="0" algn="l">
              <a:buNone/>
              <a:defRPr>
                <a:latin typeface="+mj-lt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E5D5B5E-0E06-1C4B-9517-1A1343468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5640" y="5635289"/>
            <a:ext cx="7140720" cy="6127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C7FC946-560A-741F-CBC2-3F8C376168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7023" y="2230191"/>
            <a:ext cx="3003362" cy="269906"/>
          </a:xfrm>
        </p:spPr>
        <p:txBody>
          <a:bodyPr anchor="ctr"/>
          <a:lstStyle>
            <a:lvl1pPr marL="0" indent="0" algn="l">
              <a:buNone/>
              <a:defRPr>
                <a:latin typeface="+mj-lt"/>
                <a:ea typeface="GT America Regular" pitchFamily="50" charset="0"/>
                <a:cs typeface="GT America Regular" pitchFamily="50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Chart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942412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har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04" y="184266"/>
            <a:ext cx="10515600" cy="74187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This is your punch point.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28678" y="1126964"/>
            <a:ext cx="5915025" cy="5175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Additional text as needed.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874EE-00C3-8ACF-8059-50D1432DB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104" y="1501776"/>
            <a:ext cx="11034322" cy="40536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8863E0-56E7-4E4A-683B-5E32745A9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1120775"/>
            <a:ext cx="4062412" cy="3810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Optional follow-up statement.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9915D2-9435-668C-A27B-B3CF07C33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05425" y="5649913"/>
            <a:ext cx="6056313" cy="612775"/>
          </a:xfrm>
        </p:spPr>
        <p:txBody>
          <a:bodyPr>
            <a:normAutofit/>
          </a:bodyPr>
          <a:lstStyle>
            <a:lvl1pPr marL="0" indent="0" algn="r">
              <a:buNone/>
              <a:defRPr sz="1100"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Question Goes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AE3C990-4708-10EA-2930-332003BABD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613" y="5745163"/>
            <a:ext cx="3122612" cy="517525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</a:lstStyle>
          <a:p>
            <a:pPr lvl="0"/>
            <a:r>
              <a:rPr lang="en-US" dirty="0"/>
              <a:t>Note: A detailed segmentation analysis for this question is available in Appendix X, Page Y.</a:t>
            </a:r>
          </a:p>
        </p:txBody>
      </p:sp>
    </p:spTree>
    <p:extLst>
      <p:ext uri="{BB962C8B-B14F-4D97-AF65-F5344CB8AC3E}">
        <p14:creationId xmlns:p14="http://schemas.microsoft.com/office/powerpoint/2010/main" val="37275938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5477473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1414732"/>
            <a:ext cx="5767896" cy="4701846"/>
          </a:xfrm>
        </p:spPr>
        <p:txBody>
          <a:bodyPr/>
          <a:lstStyle>
            <a:lvl1pPr>
              <a:lnSpc>
                <a:spcPts val="2400"/>
              </a:lnSpc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DF048B-BEE9-B546-D841-3F1946D23C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19888" y="0"/>
            <a:ext cx="5472112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7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AB74-3DF9-5E26-F79C-3987FFF4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84266"/>
            <a:ext cx="5477473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5276-98BA-D75E-F52F-6190550BB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4" y="1216325"/>
            <a:ext cx="5767896" cy="1518249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/>
            </a:lvl1pPr>
            <a:lvl2pPr marL="457200" indent="0">
              <a:lnSpc>
                <a:spcPts val="2400"/>
              </a:lnSpc>
              <a:buNone/>
              <a:defRPr/>
            </a:lvl2pPr>
            <a:lvl3pPr marL="914400" indent="0">
              <a:lnSpc>
                <a:spcPts val="2400"/>
              </a:lnSpc>
              <a:buNone/>
              <a:defRPr/>
            </a:lvl3pPr>
            <a:lvl4pPr marL="1371600" indent="0">
              <a:lnSpc>
                <a:spcPts val="2400"/>
              </a:lnSpc>
              <a:buNone/>
              <a:defRPr/>
            </a:lvl4pPr>
            <a:lvl5pPr marL="1828800"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FC28-54B2-CF4F-43B9-E4821C61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10A83-7B76-E155-F576-CC6BA836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DB1BC-D3F8-0FCC-6A40-DF3B7DF35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DF048B-BEE9-B546-D841-3F1946D23C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19888" y="0"/>
            <a:ext cx="547211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7E02C-9699-4DD7-B287-E67945998D1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8104" y="2734574"/>
            <a:ext cx="5767896" cy="1722983"/>
          </a:xfrm>
        </p:spPr>
        <p:txBody>
          <a:bodyPr/>
          <a:lstStyle>
            <a:lvl1pPr>
              <a:lnSpc>
                <a:spcPts val="2400"/>
              </a:lnSpc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F53D72-AEFC-30B4-E869-5D9F2C97C7C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28104" y="4457557"/>
            <a:ext cx="5767896" cy="1518249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/>
            </a:lvl1pPr>
            <a:lvl2pPr marL="457200" indent="0">
              <a:lnSpc>
                <a:spcPts val="2400"/>
              </a:lnSpc>
              <a:buNone/>
              <a:defRPr/>
            </a:lvl2pPr>
            <a:lvl3pPr marL="914400" indent="0">
              <a:lnSpc>
                <a:spcPts val="2400"/>
              </a:lnSpc>
              <a:buNone/>
              <a:defRPr/>
            </a:lvl3pPr>
            <a:lvl4pPr marL="1371600" indent="0">
              <a:lnSpc>
                <a:spcPts val="2400"/>
              </a:lnSpc>
              <a:buNone/>
              <a:defRPr/>
            </a:lvl4pPr>
            <a:lvl5pPr marL="1828800" indent="0">
              <a:lnSpc>
                <a:spcPts val="2400"/>
              </a:lnSpc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8173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2BDD-F048-F546-C340-2718838F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5E711-66F2-CED0-3C91-E45424404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C7680-B21D-87DD-8719-26954837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87FFF-A216-6B23-2956-EBE2E946A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51499-8F51-383E-6C43-A8B8F3E80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750D1-B61C-B691-77B6-1323F551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7DD754F-373D-AFDB-CD0E-52130605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1104" y="6385076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Complete Project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63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D1F9F-071E-E8C1-A5E5-40E2E990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0676" y="6385075"/>
            <a:ext cx="4114800" cy="365125"/>
          </a:xfrm>
        </p:spPr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ADEAC-0FDB-3221-5A07-000833EA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6E247D-E1F6-7DD0-00AC-88CB65247D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8105" y="871268"/>
            <a:ext cx="10851730" cy="2061714"/>
          </a:xfrm>
        </p:spPr>
        <p:txBody>
          <a:bodyPr anchor="t">
            <a:noAutofit/>
          </a:bodyPr>
          <a:lstStyle>
            <a:lvl1pPr marL="0" indent="0">
              <a:lnSpc>
                <a:spcPts val="4400"/>
              </a:lnSpc>
              <a:buNone/>
              <a:defRPr sz="4400">
                <a:latin typeface="+mj-lt"/>
              </a:defRPr>
            </a:lvl1pPr>
            <a:lvl2pPr marL="457200" indent="0">
              <a:buNone/>
              <a:defRPr sz="4400">
                <a:latin typeface="+mj-lt"/>
              </a:defRPr>
            </a:lvl2pPr>
            <a:lvl3pPr marL="914400" indent="0">
              <a:buNone/>
              <a:defRPr sz="4400">
                <a:latin typeface="+mj-lt"/>
              </a:defRPr>
            </a:lvl3pPr>
            <a:lvl4pPr marL="1371600" indent="0">
              <a:buNone/>
              <a:defRPr sz="4400">
                <a:latin typeface="+mj-lt"/>
              </a:defRPr>
            </a:lvl4pPr>
            <a:lvl5pPr marL="1828800" indent="0">
              <a:buNone/>
              <a:defRPr sz="4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4666C-FAF6-F302-897A-8D692CDEE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7A3A7F-D42D-EA8A-4406-68D675B430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613" y="301625"/>
            <a:ext cx="939800" cy="457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Self Modern Regular" panose="02000000000000000000" pitchFamily="2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684018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D1F9F-071E-E8C1-A5E5-40E2E990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0676" y="6385075"/>
            <a:ext cx="4114800" cy="365125"/>
          </a:xfrm>
        </p:spPr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ADEAC-0FDB-3221-5A07-000833EA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6E247D-E1F6-7DD0-00AC-88CB65247D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8105" y="836254"/>
            <a:ext cx="10860356" cy="2096728"/>
          </a:xfrm>
        </p:spPr>
        <p:txBody>
          <a:bodyPr anchor="t">
            <a:noAutofit/>
          </a:bodyPr>
          <a:lstStyle>
            <a:lvl1pPr marL="0" indent="0">
              <a:lnSpc>
                <a:spcPts val="4400"/>
              </a:lnSpc>
              <a:buNone/>
              <a:defRPr sz="4400">
                <a:latin typeface="+mj-lt"/>
              </a:defRPr>
            </a:lvl1pPr>
            <a:lvl2pPr marL="457200" indent="0">
              <a:buNone/>
              <a:defRPr sz="4400">
                <a:latin typeface="+mj-lt"/>
              </a:defRPr>
            </a:lvl2pPr>
            <a:lvl3pPr marL="914400" indent="0">
              <a:buNone/>
              <a:defRPr sz="4400">
                <a:latin typeface="+mj-lt"/>
              </a:defRPr>
            </a:lvl3pPr>
            <a:lvl4pPr marL="1371600" indent="0">
              <a:buNone/>
              <a:defRPr sz="4400">
                <a:latin typeface="+mj-lt"/>
              </a:defRPr>
            </a:lvl4pPr>
            <a:lvl5pPr marL="1828800" indent="0">
              <a:buNone/>
              <a:defRPr sz="44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4666C-FAF6-F302-897A-8D692CDEE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104" y="6514379"/>
            <a:ext cx="1050984" cy="10651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7A3A7F-D42D-EA8A-4406-68D675B430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613" y="301625"/>
            <a:ext cx="939800" cy="457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Self Modern Regular" panose="02000000000000000000" pitchFamily="2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B2F60C-3816-4075-B1C9-7E2EB0782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103" y="3010410"/>
            <a:ext cx="10411783" cy="3106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42914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A1AF-ABF8-AF46-33DD-18EF9EDE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44" y="376748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D1F9F-071E-E8C1-A5E5-40E2E990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ADEAC-0FDB-3221-5A07-000833EA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844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C69E-1103-24E0-4CE4-915C2BE9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E0D3-B1F6-7654-BCDC-B1A6CB5A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369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C69E-1103-24E0-4CE4-915C2BE9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E0D3-B1F6-7654-BCDC-B1A6CB5A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9EC74-4FCF-33A5-7F79-17E97355C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6656" y="2127250"/>
            <a:ext cx="7278688" cy="2300288"/>
          </a:xfrm>
        </p:spPr>
        <p:txBody>
          <a:bodyPr>
            <a:normAutofit/>
          </a:bodyPr>
          <a:lstStyle>
            <a:lvl1pPr marL="0" indent="0" algn="ctr">
              <a:lnSpc>
                <a:spcPts val="2400"/>
              </a:lnSpc>
              <a:buNone/>
              <a:defRPr sz="3200">
                <a:latin typeface="GT America Extended Regular" pitchFamily="50" charset="0"/>
                <a:ea typeface="GT America Extended Regular" pitchFamily="50" charset="0"/>
                <a:cs typeface="GT America Extended Regular" pitchFamily="50" charset="0"/>
              </a:defRPr>
            </a:lvl1pPr>
          </a:lstStyle>
          <a:p>
            <a:pPr lvl="0"/>
            <a:r>
              <a:rPr lang="en-US" dirty="0"/>
              <a:t>“Unless you try to do something beyond what you have already mastered, you will never grow.”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45DF4F-776D-CAE1-83CD-015BAD1906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4275" y="4454525"/>
            <a:ext cx="7305675" cy="46196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dirty="0"/>
              <a:t>Ralph Waldo Emmerson, Poet</a:t>
            </a:r>
          </a:p>
          <a:p>
            <a:pPr lvl="0"/>
            <a:r>
              <a:rPr lang="en-US" dirty="0"/>
              <a:t>Optional Relevant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37748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C69E-1103-24E0-4CE4-915C2BE9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E0D3-B1F6-7654-BCDC-B1A6CB5A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9EC74-4FCF-33A5-7F79-17E97355C3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6250" y="2544024"/>
            <a:ext cx="9306962" cy="1883514"/>
          </a:xfrm>
        </p:spPr>
        <p:txBody>
          <a:bodyPr>
            <a:normAutofit/>
          </a:bodyPr>
          <a:lstStyle>
            <a:lvl1pPr marL="0" indent="0" algn="ctr">
              <a:lnSpc>
                <a:spcPts val="2400"/>
              </a:lnSpc>
              <a:buNone/>
              <a:defRPr sz="2800">
                <a:solidFill>
                  <a:schemeClr val="tx2"/>
                </a:solidFill>
                <a:latin typeface="Self Modern Regular" panose="02000000000000000000" pitchFamily="2" charset="0"/>
                <a:ea typeface="GT America Extended Regular" pitchFamily="50" charset="0"/>
                <a:cs typeface="GT America Extended Regular" pitchFamily="50" charset="0"/>
              </a:defRPr>
            </a:lvl1pPr>
          </a:lstStyle>
          <a:p>
            <a:pPr lvl="0"/>
            <a:r>
              <a:rPr lang="en-US" dirty="0"/>
              <a:t>“Unless you try to do something beyond what you have already mastered, you will never grow.”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45DF4F-776D-CAE1-83CD-015BAD1906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4275" y="4454525"/>
            <a:ext cx="7305675" cy="46196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Ralph Waldo Emmerson, Poet</a:t>
            </a:r>
          </a:p>
          <a:p>
            <a:pPr lvl="0"/>
            <a:r>
              <a:rPr lang="en-US" dirty="0"/>
              <a:t>Optional Relevant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1801805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CFF2-2841-D795-0BFB-A21EC73A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CFBC-0C88-257A-A232-F610B8B20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966AC-6B89-EA63-05B4-2A864D843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49902"/>
            <a:ext cx="3932237" cy="341908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FE085-3162-0F4D-7B12-AD8E1EE2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02E20-ABC5-24F6-D700-B06475B0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25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7690-E4D8-BBEC-A1E8-C1AA6D73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104" y="166754"/>
            <a:ext cx="10515600" cy="74187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7FA78-8549-E787-A77B-1B4D6D3E4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1DC40-77FF-0D78-09B9-5C851F8CD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1477E-4342-EE75-2B68-2E9307C1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9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B555E-BDEE-B95A-4942-88EB9A0B9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42" y="202237"/>
            <a:ext cx="10515600" cy="741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AA791-8C00-45F8-C0BB-18E42B42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144" y="13511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53433-311A-5831-E075-A13F5CC56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47159" y="6380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GT America Regular" pitchFamily="50" charset="0"/>
                <a:ea typeface="GT America Regular" pitchFamily="50" charset="0"/>
                <a:cs typeface="GT America Regular" pitchFamily="50" charset="0"/>
              </a:defRPr>
            </a:lvl1pPr>
          </a:lstStyle>
          <a:p>
            <a:r>
              <a:rPr lang="en-US" dirty="0"/>
              <a:t>Complete Project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B30B9-61C5-D563-5BA7-F8D171B97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080" y="6385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8253A-D16B-4436-BC35-A1E57D9806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4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50" r:id="rId4"/>
    <p:sldLayoutId id="2147483651" r:id="rId5"/>
    <p:sldLayoutId id="2147483660" r:id="rId6"/>
    <p:sldLayoutId id="2147483665" r:id="rId7"/>
    <p:sldLayoutId id="2147483667" r:id="rId8"/>
    <p:sldLayoutId id="2147483666" r:id="rId9"/>
    <p:sldLayoutId id="2147483679" r:id="rId10"/>
    <p:sldLayoutId id="2147483678" r:id="rId11"/>
    <p:sldLayoutId id="2147483677" r:id="rId12"/>
    <p:sldLayoutId id="2147483652" r:id="rId13"/>
    <p:sldLayoutId id="2147483669" r:id="rId14"/>
    <p:sldLayoutId id="2147483671" r:id="rId15"/>
    <p:sldLayoutId id="2147483672" r:id="rId16"/>
    <p:sldLayoutId id="2147483664" r:id="rId17"/>
    <p:sldLayoutId id="2147483673" r:id="rId18"/>
    <p:sldLayoutId id="2147483674" r:id="rId19"/>
    <p:sldLayoutId id="2147483675" r:id="rId20"/>
    <p:sldLayoutId id="2147483676" r:id="rId21"/>
    <p:sldLayoutId id="2147483670" r:id="rId22"/>
    <p:sldLayoutId id="2147483661" r:id="rId23"/>
    <p:sldLayoutId id="2147483668" r:id="rId24"/>
    <p:sldLayoutId id="2147483653" r:id="rId25"/>
    <p:sldLayoutId id="2147483662" r:id="rId26"/>
    <p:sldLayoutId id="2147483663" r:id="rId27"/>
    <p:sldLayoutId id="2147483654" r:id="rId28"/>
    <p:sldLayoutId id="2147483655" r:id="rId29"/>
    <p:sldLayoutId id="2147483680" r:id="rId30"/>
    <p:sldLayoutId id="2147483681" r:id="rId31"/>
    <p:sldLayoutId id="2147483657" r:id="rId32"/>
    <p:sldLayoutId id="2147483658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1440"/>
        </a:lnSpc>
        <a:spcBef>
          <a:spcPts val="1000"/>
        </a:spcBef>
        <a:buSzPct val="15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T America Regular" pitchFamily="50" charset="0"/>
          <a:ea typeface="GT America Regular" pitchFamily="50" charset="0"/>
          <a:cs typeface="GT America Regular" pitchFamily="50" charset="0"/>
        </a:defRPr>
      </a:lvl1pPr>
      <a:lvl2pPr marL="685800" indent="-228600" algn="l" defTabSz="914400" rtl="0" eaLnBrk="1" latinLnBrk="0" hangingPunct="1">
        <a:lnSpc>
          <a:spcPts val="1440"/>
        </a:lnSpc>
        <a:spcBef>
          <a:spcPts val="500"/>
        </a:spcBef>
        <a:buSzPct val="15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T America Regular" pitchFamily="50" charset="0"/>
          <a:ea typeface="GT America Regular" pitchFamily="50" charset="0"/>
          <a:cs typeface="GT America Regular" pitchFamily="50" charset="0"/>
        </a:defRPr>
      </a:lvl2pPr>
      <a:lvl3pPr marL="1143000" indent="-228600" algn="l" defTabSz="914400" rtl="0" eaLnBrk="1" latinLnBrk="0" hangingPunct="1">
        <a:lnSpc>
          <a:spcPts val="1440"/>
        </a:lnSpc>
        <a:spcBef>
          <a:spcPts val="500"/>
        </a:spcBef>
        <a:buSzPct val="15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T America Regular" pitchFamily="50" charset="0"/>
          <a:ea typeface="GT America Regular" pitchFamily="50" charset="0"/>
          <a:cs typeface="GT America Regular" pitchFamily="50" charset="0"/>
        </a:defRPr>
      </a:lvl3pPr>
      <a:lvl4pPr marL="1600200" indent="-228600" algn="l" defTabSz="914400" rtl="0" eaLnBrk="1" latinLnBrk="0" hangingPunct="1">
        <a:lnSpc>
          <a:spcPts val="1440"/>
        </a:lnSpc>
        <a:spcBef>
          <a:spcPts val="500"/>
        </a:spcBef>
        <a:buSzPct val="15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T America Regular" pitchFamily="50" charset="0"/>
          <a:ea typeface="GT America Regular" pitchFamily="50" charset="0"/>
          <a:cs typeface="GT America Regular" pitchFamily="50" charset="0"/>
        </a:defRPr>
      </a:lvl4pPr>
      <a:lvl5pPr marL="2057400" indent="-228600" algn="l" defTabSz="914400" rtl="0" eaLnBrk="1" latinLnBrk="0" hangingPunct="1">
        <a:lnSpc>
          <a:spcPts val="1440"/>
        </a:lnSpc>
        <a:spcBef>
          <a:spcPts val="500"/>
        </a:spcBef>
        <a:buSzPct val="15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T America Regular" pitchFamily="50" charset="0"/>
          <a:ea typeface="GT America Regular" pitchFamily="50" charset="0"/>
          <a:cs typeface="GT America Regular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E1E50-1175-35B0-6A22-9EDEE71E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Templates</a:t>
            </a:r>
          </a:p>
        </p:txBody>
      </p:sp>
    </p:spTree>
    <p:extLst>
      <p:ext uri="{BB962C8B-B14F-4D97-AF65-F5344CB8AC3E}">
        <p14:creationId xmlns:p14="http://schemas.microsoft.com/office/powerpoint/2010/main" val="3253718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6FAC-3E3B-045C-3054-2934ACA8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C9B8-A3C2-C7CB-BE10-2A76C50F14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Varius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nunc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</a:b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Ante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ante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ultrices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netus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fermentum.  Et nunc sed pharetra integer cursus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91313C7-EB70-D7C4-364D-8CE74CD3C2F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5817035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1E7A-77C1-B88F-FFC6-175323E7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060E-6690-9553-84F4-F69179C8B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2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50EA677-0463-6862-07D6-F16A3DEA93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A31B7F0-7FD2-FE09-3F20-3DC67D8A00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80275" y="5649913"/>
            <a:ext cx="4081463" cy="735162"/>
          </a:xfrm>
        </p:spPr>
        <p:txBody>
          <a:bodyPr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/>
                <a:ea typeface="+mn-ea"/>
                <a:cs typeface="+mn-cs"/>
              </a:rPr>
              <a:t>Question: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/>
                <a:ea typeface="+mn-ea"/>
                <a:cs typeface="+mn-cs"/>
              </a:rPr>
              <a:t>Were you able to find all the information you were seeking on the website?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0"/>
                <a:ea typeface="GT America Regular" pitchFamily="2" charset="0"/>
                <a:cs typeface="GT America Regular" pitchFamily="2" charset="0"/>
              </a:rPr>
              <a:t>Base: Intercept Respondents who returned to complete evaluation. 2,117 completed surveys. </a:t>
            </a:r>
          </a:p>
          <a:p>
            <a:endParaRPr lang="en-US" sz="11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472B75C-199D-297C-0778-192602C47D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Chart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79695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2C4F-6D4A-6ED6-094C-FE5C04F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6880-CFE1-0BE9-204D-F79F538F5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464F-E012-EF55-0075-4295E3BF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2023-322D-2910-00E6-94FE8B5A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3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11E17D-299D-8368-18DF-208186DFD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854EBE-1BB7-F698-EAC4-325F942421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sz="11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97A87B-26E3-5A38-F9AF-B22698BED0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5447" y="1120775"/>
            <a:ext cx="5536291" cy="365125"/>
          </a:xfrm>
        </p:spPr>
        <p:txBody>
          <a:bodyPr/>
          <a:lstStyle/>
          <a:p>
            <a:pPr algn="l"/>
            <a:r>
              <a:rPr lang="en-US" dirty="0"/>
              <a:t>Chart Title Goes Here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1B684125-47DB-D3B1-74B7-295B8716727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2210416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374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2C4F-6D4A-6ED6-094C-FE5C04F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6880-CFE1-0BE9-204D-F79F538F5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464F-E012-EF55-0075-4295E3BF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2023-322D-2910-00E6-94FE8B5A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11E17D-299D-8368-18DF-208186DFD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854EBE-1BB7-F698-EAC4-325F942421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sz="105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97A87B-26E3-5A38-F9AF-B22698BED0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0275" y="1120775"/>
            <a:ext cx="4081463" cy="365125"/>
          </a:xfrm>
        </p:spPr>
        <p:txBody>
          <a:bodyPr/>
          <a:lstStyle/>
          <a:p>
            <a:pPr algn="l"/>
            <a:r>
              <a:rPr lang="en-US" dirty="0"/>
              <a:t>Chart Title Goes Here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1B684125-47DB-D3B1-74B7-295B8716727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23516966"/>
              </p:ext>
            </p:extLst>
          </p:nvPr>
        </p:nvGraphicFramePr>
        <p:xfrm>
          <a:off x="5037138" y="1501775"/>
          <a:ext cx="6490466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465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2C4F-6D4A-6ED6-094C-FE5C04F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6880-CFE1-0BE9-204D-F79F538F5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464F-E012-EF55-0075-4295E3BF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2023-322D-2910-00E6-94FE8B5A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11E17D-299D-8368-18DF-208186DFD9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854EBE-1BB7-F698-EAC4-325F942421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sz="105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97A87B-26E3-5A38-F9AF-B22698BED0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0275" y="1120775"/>
            <a:ext cx="4081463" cy="365125"/>
          </a:xfrm>
        </p:spPr>
        <p:txBody>
          <a:bodyPr/>
          <a:lstStyle/>
          <a:p>
            <a:pPr algn="l"/>
            <a:r>
              <a:rPr lang="en-US" dirty="0"/>
              <a:t>Chart Title Goes Here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E674507-B693-B6ED-D681-4144BC73F85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3190332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817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EB62-1314-0704-B55E-41FEDC5A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6FD2-E35C-1958-3899-784D29C722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E886A-7C5A-7A5F-D301-1AD1035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57AD-0FBD-42D1-6ACE-3C338FCD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B9E0D-2BDA-EA09-EA74-03F0D5099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F08771-21F6-2128-AB17-219CF928F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84FFE9-D14A-817B-89DD-FF513B4DB2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85904" y="1120775"/>
            <a:ext cx="5775834" cy="365125"/>
          </a:xfrm>
        </p:spPr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4DFFAE-2F49-F1D2-90D9-4EFED44299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1669602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552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EB62-1314-0704-B55E-41FEDC5A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6FD2-E35C-1958-3899-784D29C722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E886A-7C5A-7A5F-D301-1AD1035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57AD-0FBD-42D1-6ACE-3C338FCD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B9E0D-2BDA-EA09-EA74-03F0D5099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F08771-21F6-2128-AB17-219CF928F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84FFE9-D14A-817B-89DD-FF513B4DB2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85904" y="1120775"/>
            <a:ext cx="5775834" cy="365125"/>
          </a:xfrm>
        </p:spPr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4DFFAE-2F49-F1D2-90D9-4EFED44299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7478717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8408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EB62-1314-0704-B55E-41FEDC5A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6FD2-E35C-1958-3899-784D29C722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E886A-7C5A-7A5F-D301-1AD1035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57AD-0FBD-42D1-6ACE-3C338FCD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8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B9E0D-2BDA-EA09-EA74-03F0D5099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F08771-21F6-2128-AB17-219CF928F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84FFE9-D14A-817B-89DD-FF513B4DB2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85904" y="1120775"/>
            <a:ext cx="5775834" cy="365125"/>
          </a:xfrm>
        </p:spPr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4DFFAE-2F49-F1D2-90D9-4EFED44299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5746525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45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16DB-FBD4-B905-703B-82329F84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883E6-8D25-124E-D0D5-05A0C10972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A21FC-E7EC-49A4-6297-6EF1BC77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58AED-98F3-C66B-3B90-1EECF88F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9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392F69-10DC-F317-72D8-4C2831954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08275E-0143-B3DD-7B71-C1190FF58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636C44-358F-1B46-CDE3-5F87ECFBC9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/>
            <a:r>
              <a:rPr lang="en-US" dirty="0"/>
              <a:t>Chart Title (time-series use only)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755D6FA-F4ED-5D44-BF89-4E48634099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0459161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853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15872-4DBC-40DE-B71E-C1F93FCB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B529-17E5-88AD-85FE-6717BF2D17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2D78F065-EB58-B8EA-4A52-7AFC75B89CB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85651735"/>
              </p:ext>
            </p:extLst>
          </p:nvPr>
        </p:nvGraphicFramePr>
        <p:xfrm>
          <a:off x="5585904" y="1345087"/>
          <a:ext cx="5775834" cy="41678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3278">
                  <a:extLst>
                    <a:ext uri="{9D8B030D-6E8A-4147-A177-3AD203B41FA5}">
                      <a16:colId xmlns:a16="http://schemas.microsoft.com/office/drawing/2014/main" val="1791817984"/>
                    </a:ext>
                  </a:extLst>
                </a:gridCol>
                <a:gridCol w="1818526">
                  <a:extLst>
                    <a:ext uri="{9D8B030D-6E8A-4147-A177-3AD203B41FA5}">
                      <a16:colId xmlns:a16="http://schemas.microsoft.com/office/drawing/2014/main" val="1810746332"/>
                    </a:ext>
                  </a:extLst>
                </a:gridCol>
                <a:gridCol w="1704030">
                  <a:extLst>
                    <a:ext uri="{9D8B030D-6E8A-4147-A177-3AD203B41FA5}">
                      <a16:colId xmlns:a16="http://schemas.microsoft.com/office/drawing/2014/main" val="4212170581"/>
                    </a:ext>
                  </a:extLst>
                </a:gridCol>
              </a:tblGrid>
              <a:tr h="27730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Increase Significantly</a:t>
                      </a:r>
                    </a:p>
                  </a:txBody>
                  <a:tcP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Decrease Significantly</a:t>
                      </a:r>
                    </a:p>
                  </a:txBody>
                  <a:tcPr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735912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Attendance figures at live meetings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599889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Impact of local politics on destination selection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952925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The number of virtual/hybrid meetings held annually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345461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The number of live meetings held annually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887380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Incentives offered by destinations to hold your meeting there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59219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Impact of local politics on destination selection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44725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Importance of Environmental/Green Practices Certification (i.e., LEED)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506037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Importance of Destination Safety Certifications programs (i.e., GBAC)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226844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Value dates programs offered by destinations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87576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Attendee pickup of the room block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842968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Meeting planners’ ability to negotiate with hotels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189942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Client/meetings budget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619220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Service levels at hotels/meeting venues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906718"/>
                  </a:ext>
                </a:extLst>
              </a:tr>
              <a:tr h="2773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Cancellation of meetings due to the pandemic</a:t>
                      </a:r>
                    </a:p>
                  </a:txBody>
                  <a:tcPr marL="800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47.4%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GT America Medium" pitchFamily="50" charset="0"/>
                        </a:rPr>
                        <a:t>26.9%</a:t>
                      </a:r>
                    </a:p>
                  </a:txBody>
                  <a:tcPr marL="3810" marR="3810" marT="381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1563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4B97D-4ECA-4503-70A5-34839E4C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D3E6-2D1E-4F5B-5249-03E73CA8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10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CAA3CB-3E89-9FC2-0B97-5D94D9B75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8226F5-66A5-6170-3C79-84D241756C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36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1514-DDD3-9F34-C429-77D9AAF5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3E4D7-B37E-6C35-DD11-67886F40C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1EA23-409F-8ACF-FF0E-D8FDE46E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F4D4D-915D-584C-FF80-2B7B6272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6433DB-AC3D-0B3D-2254-A07AAE27E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F9382A-D848-CF7B-19F0-D816D7B0C8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ED4ECB-4FCA-CC5C-F459-25A5D2D905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19E3418-9CC1-B5D8-811A-1FAEF66FF7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7065812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7526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1514-DDD3-9F34-C429-77D9AAF5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3E4D7-B37E-6C35-DD11-67886F40C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1EA23-409F-8ACF-FF0E-D8FDE46E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F4D4D-915D-584C-FF80-2B7B6272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6433DB-AC3D-0B3D-2254-A07AAE27E4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F9382A-D848-CF7B-19F0-D816D7B0C8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ED4ECB-4FCA-CC5C-F459-25A5D2D905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19E3418-9CC1-B5D8-811A-1FAEF66FF7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77756718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0244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EB62-1314-0704-B55E-41FEDC5A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Action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6FD2-E35C-1958-3899-784D29C722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Supporting analysis here. Lorem ipsum dolor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amet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consectetur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Donec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mauris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rhoncus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Sit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non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commodo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aenean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odio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faucibus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Varius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facilisi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sapien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ipsum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lobortis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urna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nunc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Pretium sed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nulla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quisque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tortor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ac.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SzPct val="100000"/>
              <a:buFont typeface="System Font Regular"/>
              <a:buChar char="●"/>
              <a:defRPr/>
            </a:pP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viverra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nec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platea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eleifend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feugiat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arcu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Tincidunt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vel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velit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venenatis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mus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sed pharetra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felis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suspendisse</a:t>
            </a:r>
            <a:r>
              <a:rPr lang="en-US" sz="1200" dirty="0">
                <a:solidFill>
                  <a:srgbClr val="000000"/>
                </a:solidFill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.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E886A-7C5A-7A5F-D301-1AD1035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57AD-0FBD-42D1-6ACE-3C338FCD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13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9B9E0D-2BDA-EA09-EA74-03F0D5099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punch point.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F08771-21F6-2128-AB17-219CF928F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Question: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Which cities have you visited in the past twelve months? 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T America Regular" pitchFamily="2" charset="77"/>
                <a:ea typeface="GT America Regular" pitchFamily="2" charset="77"/>
                <a:cs typeface="GT America Regular" pitchFamily="2" charset="77"/>
              </a:rPr>
              <a:t>Base: All survey respondents. 1,200 completed surveys.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84FFE9-D14A-817B-89DD-FF513B4DB2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85904" y="1120775"/>
            <a:ext cx="5775834" cy="365125"/>
          </a:xfrm>
        </p:spPr>
        <p:txBody>
          <a:bodyPr/>
          <a:lstStyle/>
          <a:p>
            <a:pPr algn="l"/>
            <a:r>
              <a:rPr lang="en-US" dirty="0"/>
              <a:t>Chart Title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84DFFAE-2F49-F1D2-90D9-4EFED44299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01183506"/>
              </p:ext>
            </p:extLst>
          </p:nvPr>
        </p:nvGraphicFramePr>
        <p:xfrm>
          <a:off x="5037138" y="1501775"/>
          <a:ext cx="63246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240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BC33-3694-983E-F0F8-1FBE7E39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4443-047B-ECBE-6E5F-F9F844DDE9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Supporting analysis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9470-C78F-DEE8-BC80-3E28FF7A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28A3-6789-4A89-EDEC-0415AAEF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5D5912-9F3E-7563-117D-14F880C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supporting punch.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C40E06D-B0C5-1B2C-5D67-F31FEB6AEA4D}"/>
              </a:ext>
            </a:extLst>
          </p:cNvPr>
          <p:cNvGraphicFramePr>
            <a:graphicFrameLocks noGrp="1"/>
          </p:cNvGraphicFramePr>
          <p:nvPr>
            <p:ph sz="half" idx="17"/>
            <p:extLst>
              <p:ext uri="{D42A27DB-BD31-4B8C-83A1-F6EECF244321}">
                <p14:modId xmlns:p14="http://schemas.microsoft.com/office/powerpoint/2010/main" val="3687830250"/>
              </p:ext>
            </p:extLst>
          </p:nvPr>
        </p:nvGraphicFramePr>
        <p:xfrm>
          <a:off x="5124260" y="1695450"/>
          <a:ext cx="623747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336">
                  <a:extLst>
                    <a:ext uri="{9D8B030D-6E8A-4147-A177-3AD203B41FA5}">
                      <a16:colId xmlns:a16="http://schemas.microsoft.com/office/drawing/2014/main" val="1289444253"/>
                    </a:ext>
                  </a:extLst>
                </a:gridCol>
                <a:gridCol w="760491">
                  <a:extLst>
                    <a:ext uri="{9D8B030D-6E8A-4147-A177-3AD203B41FA5}">
                      <a16:colId xmlns:a16="http://schemas.microsoft.com/office/drawing/2014/main" val="636502099"/>
                    </a:ext>
                  </a:extLst>
                </a:gridCol>
                <a:gridCol w="896293">
                  <a:extLst>
                    <a:ext uri="{9D8B030D-6E8A-4147-A177-3AD203B41FA5}">
                      <a16:colId xmlns:a16="http://schemas.microsoft.com/office/drawing/2014/main" val="367615881"/>
                    </a:ext>
                  </a:extLst>
                </a:gridCol>
                <a:gridCol w="941561">
                  <a:extLst>
                    <a:ext uri="{9D8B030D-6E8A-4147-A177-3AD203B41FA5}">
                      <a16:colId xmlns:a16="http://schemas.microsoft.com/office/drawing/2014/main" val="1307802981"/>
                    </a:ext>
                  </a:extLst>
                </a:gridCol>
                <a:gridCol w="814811">
                  <a:extLst>
                    <a:ext uri="{9D8B030D-6E8A-4147-A177-3AD203B41FA5}">
                      <a16:colId xmlns:a16="http://schemas.microsoft.com/office/drawing/2014/main" val="3864712231"/>
                    </a:ext>
                  </a:extLst>
                </a:gridCol>
                <a:gridCol w="904982">
                  <a:extLst>
                    <a:ext uri="{9D8B030D-6E8A-4147-A177-3AD203B41FA5}">
                      <a16:colId xmlns:a16="http://schemas.microsoft.com/office/drawing/2014/main" val="231338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Hotel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VFR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Day tripper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913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Lodging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31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Restaurants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9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Retail shopping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63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Entertainment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3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Transportation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93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87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Total Spend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693121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F89C58-7BB6-D06F-55AB-FF72C89300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9350" y="1364350"/>
            <a:ext cx="3627293" cy="269906"/>
          </a:xfrm>
        </p:spPr>
        <p:txBody>
          <a:bodyPr/>
          <a:lstStyle/>
          <a:p>
            <a:pPr algn="ctr"/>
            <a:r>
              <a:rPr lang="en-US" dirty="0"/>
              <a:t>Table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8428B0-563C-8BE1-17A9-DA58C9118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dirty="0"/>
              <a:t>Question: Which cities have you visited in the past twelve months?</a:t>
            </a:r>
          </a:p>
          <a:p>
            <a:r>
              <a:rPr lang="en-US" dirty="0"/>
              <a:t>Base: All survey respondents. 1,200 completed surveys.</a:t>
            </a:r>
          </a:p>
        </p:txBody>
      </p:sp>
      <p:graphicFrame>
        <p:nvGraphicFramePr>
          <p:cNvPr id="12" name="Content Placeholder 17">
            <a:extLst>
              <a:ext uri="{FF2B5EF4-FFF2-40B4-BE49-F238E27FC236}">
                <a16:creationId xmlns:a16="http://schemas.microsoft.com/office/drawing/2014/main" id="{745AFEE5-E2D2-D402-BC4B-9984CD1321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2732202"/>
              </p:ext>
            </p:extLst>
          </p:nvPr>
        </p:nvGraphicFramePr>
        <p:xfrm>
          <a:off x="328613" y="2617788"/>
          <a:ext cx="3641725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359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BC33-3694-983E-F0F8-1FBE7E39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4443-047B-ECBE-6E5F-F9F844DDE9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Supporting analysis. Supporting analysis. Supporting analysis. Supporting analysis. Supporting analysis. Supporting analysis. Supporting analysis. Supporting analysis.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29470-C78F-DEE8-BC80-3E28FF7A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Complete Project Name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28A3-6789-4A89-EDEC-0415AAEF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253A-D16B-4436-BC35-A1E57D98062C}" type="slidenum">
              <a:rPr lang="en-US" smtClean="0"/>
              <a:t>15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5D5912-9F3E-7563-117D-14F880C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your supporting punch.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C40E06D-B0C5-1B2C-5D67-F31FEB6AEA4D}"/>
              </a:ext>
            </a:extLst>
          </p:cNvPr>
          <p:cNvGraphicFramePr>
            <a:graphicFrameLocks noGrp="1"/>
          </p:cNvGraphicFramePr>
          <p:nvPr>
            <p:ph sz="half" idx="17"/>
            <p:extLst>
              <p:ext uri="{D42A27DB-BD31-4B8C-83A1-F6EECF244321}">
                <p14:modId xmlns:p14="http://schemas.microsoft.com/office/powerpoint/2010/main" val="1771011571"/>
              </p:ext>
            </p:extLst>
          </p:nvPr>
        </p:nvGraphicFramePr>
        <p:xfrm>
          <a:off x="5124260" y="1695450"/>
          <a:ext cx="623747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336">
                  <a:extLst>
                    <a:ext uri="{9D8B030D-6E8A-4147-A177-3AD203B41FA5}">
                      <a16:colId xmlns:a16="http://schemas.microsoft.com/office/drawing/2014/main" val="1289444253"/>
                    </a:ext>
                  </a:extLst>
                </a:gridCol>
                <a:gridCol w="760491">
                  <a:extLst>
                    <a:ext uri="{9D8B030D-6E8A-4147-A177-3AD203B41FA5}">
                      <a16:colId xmlns:a16="http://schemas.microsoft.com/office/drawing/2014/main" val="636502099"/>
                    </a:ext>
                  </a:extLst>
                </a:gridCol>
                <a:gridCol w="896293">
                  <a:extLst>
                    <a:ext uri="{9D8B030D-6E8A-4147-A177-3AD203B41FA5}">
                      <a16:colId xmlns:a16="http://schemas.microsoft.com/office/drawing/2014/main" val="367615881"/>
                    </a:ext>
                  </a:extLst>
                </a:gridCol>
                <a:gridCol w="941561">
                  <a:extLst>
                    <a:ext uri="{9D8B030D-6E8A-4147-A177-3AD203B41FA5}">
                      <a16:colId xmlns:a16="http://schemas.microsoft.com/office/drawing/2014/main" val="1307802981"/>
                    </a:ext>
                  </a:extLst>
                </a:gridCol>
                <a:gridCol w="814811">
                  <a:extLst>
                    <a:ext uri="{9D8B030D-6E8A-4147-A177-3AD203B41FA5}">
                      <a16:colId xmlns:a16="http://schemas.microsoft.com/office/drawing/2014/main" val="3864712231"/>
                    </a:ext>
                  </a:extLst>
                </a:gridCol>
                <a:gridCol w="904982">
                  <a:extLst>
                    <a:ext uri="{9D8B030D-6E8A-4147-A177-3AD203B41FA5}">
                      <a16:colId xmlns:a16="http://schemas.microsoft.com/office/drawing/2014/main" val="231338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Hotel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VFR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Day tripper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913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Lodging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31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Restaurants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9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Retail shopping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63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Entertainment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3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Transportation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93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Other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87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Mean Total Spend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$150.00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693121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F89C58-7BB6-D06F-55AB-FF72C89300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9350" y="1364350"/>
            <a:ext cx="3627293" cy="269906"/>
          </a:xfrm>
        </p:spPr>
        <p:txBody>
          <a:bodyPr/>
          <a:lstStyle/>
          <a:p>
            <a:pPr algn="ctr"/>
            <a:r>
              <a:rPr lang="en-US" dirty="0"/>
              <a:t>Table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98428B0-563C-8BE1-17A9-DA58C9118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dirty="0"/>
              <a:t>Question: Which cities have you visited in the past twelve months?</a:t>
            </a:r>
          </a:p>
          <a:p>
            <a:r>
              <a:rPr lang="en-US" dirty="0"/>
              <a:t>Base: All survey respondents. 1,200 completed surveys.</a:t>
            </a:r>
          </a:p>
        </p:txBody>
      </p:sp>
      <p:graphicFrame>
        <p:nvGraphicFramePr>
          <p:cNvPr id="12" name="Content Placeholder 17">
            <a:extLst>
              <a:ext uri="{FF2B5EF4-FFF2-40B4-BE49-F238E27FC236}">
                <a16:creationId xmlns:a16="http://schemas.microsoft.com/office/drawing/2014/main" id="{745AFEE5-E2D2-D402-BC4B-9984CD13217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28613" y="2617788"/>
          <a:ext cx="3641725" cy="299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953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ture Partners">
      <a:dk1>
        <a:sysClr val="windowText" lastClr="000000"/>
      </a:dk1>
      <a:lt1>
        <a:srgbClr val="FCFFEE"/>
      </a:lt1>
      <a:dk2>
        <a:srgbClr val="006AFF"/>
      </a:dk2>
      <a:lt2>
        <a:srgbClr val="E4D6BB"/>
      </a:lt2>
      <a:accent1>
        <a:srgbClr val="F3FFAF"/>
      </a:accent1>
      <a:accent2>
        <a:srgbClr val="F2542A"/>
      </a:accent2>
      <a:accent3>
        <a:srgbClr val="8894F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uture Partners">
      <a:majorFont>
        <a:latin typeface="GT America Extended Regular"/>
        <a:ea typeface=""/>
        <a:cs typeface=""/>
      </a:majorFont>
      <a:minorFont>
        <a:latin typeface="GT America Standa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_ReportSlides" id="{1BD5EA03-BF14-4620-B363-AD35F8245C53}" vid="{28867437-1913-4AEA-AE4A-99EE9E9EAC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FP BRAND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Future Partners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Future Partners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Future Partners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Future Partners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Future Partners">
    <a:dk1>
      <a:srgbClr val="000000"/>
    </a:dk1>
    <a:lt1>
      <a:srgbClr val="FCFFEE"/>
    </a:lt1>
    <a:dk2>
      <a:srgbClr val="0069FF"/>
    </a:dk2>
    <a:lt2>
      <a:srgbClr val="F3FFAF"/>
    </a:lt2>
    <a:accent1>
      <a:srgbClr val="8893FF"/>
    </a:accent1>
    <a:accent2>
      <a:srgbClr val="D6DAFF"/>
    </a:accent2>
    <a:accent3>
      <a:srgbClr val="F2542A"/>
    </a:accent3>
    <a:accent4>
      <a:srgbClr val="FFDABF"/>
    </a:accent4>
    <a:accent5>
      <a:srgbClr val="E3D6BB"/>
    </a:accent5>
    <a:accent6>
      <a:srgbClr val="FFFFFF"/>
    </a:accent6>
    <a:hlink>
      <a:srgbClr val="0069FF"/>
    </a:hlink>
    <a:folHlink>
      <a:srgbClr val="0069FF"/>
    </a:folHlink>
  </a:clrScheme>
  <a:fontScheme name="Arial Black-Arial">
    <a:majorFont>
      <a:latin typeface="Arial Black" panose="020B0A04020102020204"/>
      <a:ea typeface=""/>
      <a:cs typeface=""/>
      <a:font script="Jpan" typeface="ＭＳ ゴシック"/>
      <a:font script="Hang" typeface="굴림"/>
      <a:font script="Hans" typeface="微软雅黑"/>
      <a:font script="Hant" typeface="微軟正黑體"/>
      <a:font script="Arab" typeface="Tahoma"/>
      <a:font script="Hebr" typeface="Tahoma"/>
      <a:font script="Thai" typeface="Freesia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Verdana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4120</TotalTime>
  <Words>1913</Words>
  <Application>Microsoft Office PowerPoint</Application>
  <PresentationFormat>Widescreen</PresentationFormat>
  <Paragraphs>277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GT America Extended Regular</vt:lpstr>
      <vt:lpstr>GT America Medium</vt:lpstr>
      <vt:lpstr>GT America Regular</vt:lpstr>
      <vt:lpstr>GT America Standard</vt:lpstr>
      <vt:lpstr>Self Modern Regular</vt:lpstr>
      <vt:lpstr>System Font Regular</vt:lpstr>
      <vt:lpstr>Office Theme</vt:lpstr>
      <vt:lpstr>Chart Templates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Long Action Takeaway</vt:lpstr>
      <vt:lpstr>Appendix Title</vt:lpstr>
      <vt:lpstr>Appendix Title</vt:lpstr>
    </vt:vector>
  </TitlesOfParts>
  <Company>Future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of Findings</dc:title>
  <dc:subject>Template</dc:subject>
  <dc:creator>Jennifer Griswold</dc:creator>
  <cp:lastModifiedBy>Andrew P</cp:lastModifiedBy>
  <cp:revision>44</cp:revision>
  <dcterms:created xsi:type="dcterms:W3CDTF">2024-03-25T20:35:00Z</dcterms:created>
  <dcterms:modified xsi:type="dcterms:W3CDTF">2026-03-18T03:22:54Z</dcterms:modified>
</cp:coreProperties>
</file>